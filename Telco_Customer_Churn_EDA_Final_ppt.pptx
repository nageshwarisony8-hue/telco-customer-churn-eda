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59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fld>
            <a:endParaRPr lang="en-IN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79178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2712567" y="3794760"/>
            <a:ext cx="6766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32323"/>
                </a:solidFill>
                <a:latin typeface="Arial" panose="020B0604020202020204"/>
              </a:defRPr>
            </a:pPr>
            <a:r>
              <a:t>Telco Customer Churn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981047" y="4407408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5A5A"/>
                </a:solidFill>
                <a:latin typeface="Arial" panose="020B0604020202020204"/>
              </a:defRPr>
            </a:pPr>
            <a:r>
              <a:rPr b="1" dirty="0"/>
              <a:t>Exploratory Data Analysis Using Python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03"/>
          <p:cNvSpPr txBox="1"/>
          <p:nvPr/>
        </p:nvSpPr>
        <p:spPr>
          <a:xfrm>
            <a:off x="685800" y="424413"/>
            <a:ext cx="530352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C41E23"/>
                </a:solidFill>
                <a:latin typeface="Arial" panose="020B0604020202020204"/>
              </a:defRPr>
            </a:pPr>
            <a:r>
              <a:rPr lang="en-IN" dirty="0"/>
              <a:t>About Me</a:t>
            </a:r>
            <a:endParaRPr dirty="0"/>
          </a:p>
        </p:txBody>
      </p:sp>
      <p:sp>
        <p:nvSpPr>
          <p:cNvPr id="106" name="Rounded Rectangle 105"/>
          <p:cNvSpPr/>
          <p:nvPr/>
        </p:nvSpPr>
        <p:spPr>
          <a:xfrm>
            <a:off x="685800" y="1508760"/>
            <a:ext cx="9824884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09828" y="1709417"/>
            <a:ext cx="29718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F6FA8"/>
                </a:solidFill>
                <a:latin typeface="Arial" panose="020B0604020202020204"/>
              </a:defRPr>
            </a:pPr>
            <a:r>
              <a:rPr lang="en-IN" sz="2000" dirty="0">
                <a:solidFill>
                  <a:schemeClr val="tx1"/>
                </a:solidFill>
              </a:rPr>
              <a:t>Auti Nageshwari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2181383" y="2782529"/>
            <a:ext cx="5841740" cy="156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  <a:latin typeface="Arial" panose="020B0604020202020204"/>
              </a:defRPr>
            </a:pPr>
            <a:r>
              <a:rPr lang="en-IN" b="1" dirty="0"/>
              <a:t>Background: B. Tech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  <a:latin typeface="Arial" panose="020B0604020202020204"/>
              </a:defRPr>
            </a:pPr>
            <a:r>
              <a:rPr lang="en-IN" b="1" dirty="0"/>
              <a:t>Skills: Python &amp; EDA, Pandas, </a:t>
            </a:r>
            <a:r>
              <a:rPr lang="en-IN" b="1" dirty="0" err="1"/>
              <a:t>Numpy</a:t>
            </a:r>
            <a:r>
              <a:rPr lang="en-IN" b="1" dirty="0"/>
              <a:t>, Matplotlib, Seaborn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  <a:latin typeface="Arial" panose="020B0604020202020204"/>
              </a:defRPr>
            </a:pPr>
            <a:r>
              <a:rPr lang="en-IN" b="1" dirty="0"/>
              <a:t>Aspiring Data Analyst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  <a:latin typeface="Arial" panose="020B0604020202020204"/>
              </a:defRPr>
            </a:pPr>
            <a:r>
              <a:rPr lang="en-IN" b="1" dirty="0"/>
              <a:t>Individual Project Analysis &amp; Presentation</a:t>
            </a:r>
          </a:p>
          <a:p>
            <a:pPr>
              <a:spcAft>
                <a:spcPts val="1000"/>
              </a:spcAft>
              <a:defRPr sz="1250">
                <a:solidFill>
                  <a:srgbClr val="232323"/>
                </a:solidFill>
                <a:latin typeface="Arial" panose="020B0604020202020204"/>
              </a:defRPr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632606-93F9-8409-CA52-F3717A97201A}"/>
              </a:ext>
            </a:extLst>
          </p:cNvPr>
          <p:cNvSpPr/>
          <p:nvPr/>
        </p:nvSpPr>
        <p:spPr>
          <a:xfrm>
            <a:off x="708660" y="1110996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09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F6FA8"/>
                </a:solidFill>
                <a:latin typeface="Arial" panose="020B0604020202020204"/>
              </a:defRPr>
            </a:pPr>
            <a:r>
              <a:t>PROJECT FLOW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C41E23"/>
                </a:solidFill>
                <a:latin typeface="Arial" panose="020B0604020202020204"/>
              </a:defRPr>
            </a:pPr>
            <a:r>
              <a:t>Agenda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68680" y="1508760"/>
            <a:ext cx="98755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62B30"/>
                </a:solidFill>
                <a:latin typeface="Arial" panose="020B0604020202020204"/>
              </a:defRPr>
            </a:pPr>
            <a:r>
              <a:rPr dirty="0"/>
              <a:t>• 01  Project Objective</a:t>
            </a:r>
            <a:br>
              <a:rPr dirty="0"/>
            </a:br>
            <a:r>
              <a:rPr dirty="0"/>
              <a:t>• 02  Dataset Selection &amp; Information</a:t>
            </a:r>
            <a:br>
              <a:rPr dirty="0"/>
            </a:br>
            <a:r>
              <a:rPr dirty="0"/>
              <a:t>• 03  Understanding the Dataset</a:t>
            </a:r>
            <a:br>
              <a:rPr dirty="0"/>
            </a:br>
            <a:r>
              <a:rPr dirty="0"/>
              <a:t>• 04  Data Cleaning &amp; Preparation</a:t>
            </a:r>
            <a:br>
              <a:rPr dirty="0"/>
            </a:br>
            <a:r>
              <a:rPr dirty="0"/>
              <a:t>• 05  Univariate Analysis</a:t>
            </a:r>
            <a:br>
              <a:rPr dirty="0"/>
            </a:br>
            <a:r>
              <a:rPr dirty="0"/>
              <a:t>• 06  Bivariate Analysis</a:t>
            </a:r>
            <a:br>
              <a:rPr dirty="0"/>
            </a:br>
            <a:r>
              <a:rPr dirty="0"/>
              <a:t>• 07  Multivariate Analysis</a:t>
            </a:r>
            <a:br>
              <a:rPr dirty="0"/>
            </a:br>
            <a:r>
              <a:rPr dirty="0"/>
              <a:t>• 08  Pivot Tables &amp; Summary Statistics</a:t>
            </a:r>
            <a:br>
              <a:rPr dirty="0"/>
            </a:br>
            <a:r>
              <a:rPr dirty="0"/>
              <a:t>• 09  Key Business Insights</a:t>
            </a:r>
            <a:br>
              <a:rPr dirty="0"/>
            </a:br>
            <a:r>
              <a:rPr dirty="0"/>
              <a:t>• 10  Conclusion</a:t>
            </a:r>
            <a:br>
              <a:rPr dirty="0"/>
            </a:br>
            <a:r>
              <a:rPr dirty="0"/>
              <a:t>• 11  Q&amp;A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F6FA8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C41E23"/>
                </a:solidFill>
                <a:latin typeface="Arial" panose="020B0604020202020204"/>
              </a:defRPr>
            </a:pPr>
            <a:r>
              <a:t>Objective of the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10058400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600">
                <a:solidFill>
                  <a:srgbClr val="262B30"/>
                </a:solidFill>
                <a:latin typeface="Arial" panose="020B0604020202020204"/>
              </a:defRPr>
            </a:pPr>
            <a:r>
              <a:rPr dirty="0"/>
              <a:t>• Analyze customer churn patterns using exploratory data analysis.</a:t>
            </a:r>
            <a:br>
              <a:rPr dirty="0"/>
            </a:br>
            <a:r>
              <a:rPr dirty="0"/>
              <a:t>• Understand customer demographics, services, contracts, charges and payment methods.</a:t>
            </a:r>
            <a:br>
              <a:rPr dirty="0"/>
            </a:br>
            <a:r>
              <a:rPr dirty="0"/>
              <a:t>• Identify customer groups with higher churn rates.</a:t>
            </a:r>
            <a:br>
              <a:rPr dirty="0"/>
            </a:br>
            <a:r>
              <a:rPr dirty="0"/>
              <a:t>• Examine relationships between numerical and categorical variables.</a:t>
            </a:r>
            <a:br>
              <a:rPr dirty="0"/>
            </a:br>
            <a:r>
              <a:rPr dirty="0"/>
              <a:t>• Create pivot tables and visualizations to support business insights.</a:t>
            </a:r>
            <a:br>
              <a:rPr dirty="0"/>
            </a:br>
            <a:r>
              <a:rPr dirty="0"/>
              <a:t>• Translate the analysis into practical customer-retention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F6FA8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C41E23"/>
                </a:solidFill>
                <a:latin typeface="Arial" panose="020B0604020202020204"/>
              </a:defRPr>
            </a:pPr>
            <a:r>
              <a:t>Dataset Selection &amp; Information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536192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C41E23"/>
                </a:solidFill>
                <a:latin typeface="Arial" panose="020B0604020202020204"/>
              </a:defRPr>
            </a:pPr>
            <a:r>
              <a:t>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508760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262B30"/>
                </a:solidFill>
                <a:latin typeface="Arial" panose="020B0604020202020204"/>
              </a:defRPr>
            </a:pPr>
            <a:r>
              <a:t>Telco Customer Churn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258568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377440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C41E23"/>
                </a:solidFill>
                <a:latin typeface="Arial" panose="020B0604020202020204"/>
              </a:defRPr>
            </a:pPr>
            <a: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350008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262B30"/>
                </a:solidFill>
                <a:latin typeface="Arial" panose="020B0604020202020204"/>
              </a:defRPr>
            </a:pPr>
            <a:r>
              <a:rPr dirty="0"/>
              <a:t>Kaggle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99816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3218688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C41E23"/>
                </a:solidFill>
                <a:latin typeface="Arial" panose="020B0604020202020204"/>
              </a:defRPr>
            </a:pPr>
            <a:r>
              <a:t>Dataset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191256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262B30"/>
                </a:solidFill>
                <a:latin typeface="Arial" panose="020B0604020202020204"/>
              </a:defRPr>
            </a:pPr>
            <a:r>
              <a:t>7,043 rows × 21 columns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41064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059936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C41E23"/>
                </a:solidFill>
                <a:latin typeface="Arial" panose="020B0604020202020204"/>
              </a:defRPr>
            </a:pPr>
            <a:r>
              <a:t>Target Variable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032504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262B30"/>
                </a:solidFill>
                <a:latin typeface="Arial" panose="020B0604020202020204"/>
              </a:defRPr>
            </a:pPr>
            <a:r>
              <a:t>churn — Yes / No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782312"/>
            <a:ext cx="10332720" cy="658368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4901184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C41E23"/>
                </a:solidFill>
                <a:latin typeface="Arial" panose="020B0604020202020204"/>
              </a:defRPr>
            </a:pPr>
            <a:r>
              <a:t>Data 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873752"/>
            <a:ext cx="7635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262B30"/>
                </a:solidFill>
                <a:latin typeface="Arial" panose="020B0604020202020204"/>
              </a:defRPr>
            </a:pPr>
            <a:r>
              <a:t>Numerical + Categorical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F6FA8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C41E23"/>
                </a:solidFill>
                <a:latin typeface="Arial" panose="020B0604020202020204"/>
              </a:defRPr>
            </a:pPr>
            <a:r>
              <a:t>Understanding the 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3524" y="1429696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rPr dirty="0"/>
              <a:t>Demographics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" y="1681163"/>
            <a:ext cx="3044952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gender, </a:t>
            </a:r>
            <a:r>
              <a:rPr sz="1600" dirty="0" err="1"/>
              <a:t>seniorcitizen</a:t>
            </a:r>
            <a:r>
              <a:rPr sz="1600" dirty="0"/>
              <a:t>,</a:t>
            </a:r>
            <a:br>
              <a:rPr sz="1600" dirty="0"/>
            </a:br>
            <a:r>
              <a:rPr sz="1600" dirty="0"/>
              <a:t>partner, dependents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8251" y="1458468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rPr dirty="0"/>
              <a:t>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3387" y="1696938"/>
            <a:ext cx="3044952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lang="en-IN" sz="1600" dirty="0"/>
              <a:t>P</a:t>
            </a:r>
            <a:r>
              <a:rPr sz="1600" dirty="0"/>
              <a:t>hone</a:t>
            </a:r>
            <a:r>
              <a:rPr lang="en-IN" sz="1600" dirty="0"/>
              <a:t> </a:t>
            </a:r>
            <a:r>
              <a:rPr sz="1600" dirty="0"/>
              <a:t>service, </a:t>
            </a:r>
            <a:r>
              <a:rPr sz="1600" dirty="0" err="1"/>
              <a:t>multiplelines</a:t>
            </a:r>
            <a:r>
              <a:rPr sz="1600" dirty="0"/>
              <a:t>,</a:t>
            </a:r>
            <a:br>
              <a:rPr sz="1600" dirty="0"/>
            </a:br>
            <a:r>
              <a:rPr sz="1600" dirty="0"/>
              <a:t>internet</a:t>
            </a:r>
            <a:r>
              <a:rPr lang="en-IN" sz="1600" dirty="0"/>
              <a:t> </a:t>
            </a:r>
            <a:r>
              <a:rPr sz="1600" dirty="0"/>
              <a:t>service, support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202168" y="1449324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Account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1674078"/>
            <a:ext cx="3044952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tenure, contract,</a:t>
            </a:r>
            <a:br>
              <a:rPr sz="1600" dirty="0"/>
            </a:br>
            <a:r>
              <a:rPr sz="1600" dirty="0" err="1"/>
              <a:t>paperlessbilling</a:t>
            </a:r>
            <a:r>
              <a:rPr sz="1600" dirty="0"/>
              <a:t>, payment</a:t>
            </a:r>
            <a:r>
              <a:rPr lang="en-IN" sz="1600" dirty="0"/>
              <a:t> </a:t>
            </a:r>
            <a:r>
              <a:rPr sz="1600" dirty="0"/>
              <a:t>method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83464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" y="295351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Charges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3278345"/>
            <a:ext cx="3044952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lang="en-IN" sz="1600" dirty="0"/>
              <a:t>M</a:t>
            </a:r>
            <a:r>
              <a:rPr sz="1600" dirty="0" err="1"/>
              <a:t>onthly</a:t>
            </a:r>
            <a:r>
              <a:rPr lang="en-IN" sz="1600" dirty="0"/>
              <a:t> </a:t>
            </a:r>
            <a:r>
              <a:rPr sz="1600" dirty="0"/>
              <a:t>charges,</a:t>
            </a:r>
            <a:br>
              <a:rPr sz="1600" dirty="0"/>
            </a:br>
            <a:r>
              <a:rPr sz="1600" dirty="0"/>
              <a:t>total</a:t>
            </a:r>
            <a:r>
              <a:rPr lang="en-IN" sz="1600" dirty="0"/>
              <a:t> </a:t>
            </a:r>
            <a:r>
              <a:rPr sz="1600" dirty="0"/>
              <a:t>charges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83464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35424" y="295351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8251" y="3228053"/>
            <a:ext cx="3044952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churn</a:t>
            </a:r>
            <a:br>
              <a:rPr sz="1600" dirty="0"/>
            </a:br>
            <a:r>
              <a:rPr sz="1600" dirty="0"/>
              <a:t>Yes / No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83464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38744" y="295351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Key Dataset Fact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3155234"/>
            <a:ext cx="3044952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21 columns</a:t>
            </a:r>
            <a:br>
              <a:rPr sz="1600" dirty="0"/>
            </a:br>
            <a:r>
              <a:rPr sz="1600" dirty="0"/>
              <a:t>Customer, service and account attributes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91640" y="4434840"/>
            <a:ext cx="4160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37944" y="4553712"/>
            <a:ext cx="3867911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Numerical Variables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37944" y="4874671"/>
            <a:ext cx="3867911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7840" y="5100456"/>
            <a:ext cx="3867911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rPr dirty="0" err="1"/>
              <a:t>seniorcitizen</a:t>
            </a:r>
            <a:r>
              <a:rPr dirty="0"/>
              <a:t>, tenure,</a:t>
            </a:r>
            <a:br>
              <a:rPr dirty="0"/>
            </a:br>
            <a:r>
              <a:rPr dirty="0"/>
              <a:t>monthly</a:t>
            </a:r>
            <a:r>
              <a:rPr lang="en-IN" dirty="0"/>
              <a:t> </a:t>
            </a:r>
            <a:r>
              <a:rPr dirty="0"/>
              <a:t>charges, total</a:t>
            </a:r>
            <a:r>
              <a:rPr lang="en-IN" dirty="0"/>
              <a:t> </a:t>
            </a:r>
            <a:r>
              <a:rPr dirty="0"/>
              <a:t>charges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434840"/>
            <a:ext cx="4160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9944" y="4553712"/>
            <a:ext cx="3867911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Target Classes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4874671"/>
            <a:ext cx="3867911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5422392"/>
            <a:ext cx="3867911" cy="64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t>No / Yes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F6FA8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C41E23"/>
                </a:solidFill>
                <a:latin typeface="Arial" panose="020B0604020202020204"/>
              </a:defRPr>
            </a:pPr>
            <a:r>
              <a:t>Data Cleaning &amp; Preparation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Missing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879313"/>
            <a:ext cx="3044952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11 blank values in total</a:t>
            </a:r>
            <a:r>
              <a:rPr lang="en-IN" sz="1600" dirty="0"/>
              <a:t> </a:t>
            </a:r>
            <a:r>
              <a:rPr sz="1600" dirty="0"/>
              <a:t>charges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t>→ treated as 0 because tenure =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Final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984135"/>
            <a:ext cx="304495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0 missing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t>After treatment and numeric conversion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Duplicates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984135"/>
            <a:ext cx="304495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0 duplicate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t>No duplicate rows removed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3794760"/>
            <a:ext cx="3657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06624" y="3913632"/>
            <a:ext cx="3364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Outliers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6624" y="4179695"/>
            <a:ext cx="3364992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IQR method used for tenure,</a:t>
            </a:r>
            <a:br>
              <a:rPr sz="1600" dirty="0"/>
            </a:br>
            <a:r>
              <a:rPr sz="1600" dirty="0"/>
              <a:t>monthly</a:t>
            </a:r>
            <a:r>
              <a:rPr lang="en-IN" sz="1600" dirty="0"/>
              <a:t> </a:t>
            </a:r>
            <a:r>
              <a:rPr sz="1600" dirty="0"/>
              <a:t>charges and total</a:t>
            </a:r>
            <a:r>
              <a:rPr lang="en-IN" sz="1600" dirty="0"/>
              <a:t> </a:t>
            </a:r>
            <a:r>
              <a:rPr sz="1600" dirty="0"/>
              <a:t>charges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1008" y="4873752"/>
            <a:ext cx="336499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rPr dirty="0"/>
              <a:t>0 outliers identified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79476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84264" y="391363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Class Imbalance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4264" y="4361575"/>
            <a:ext cx="304495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No churn: 5,174 (73.46%)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4782312"/>
            <a:ext cx="3044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t>Churn: 1,869 (26.54%)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F6FA8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C41E23"/>
                </a:solidFill>
                <a:latin typeface="Arial" panose="020B0604020202020204"/>
              </a:defRPr>
            </a:pPr>
            <a:r>
              <a:t>Univariate Analysis – Key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Gender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059573"/>
            <a:ext cx="304495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Female: 3,488 | Male: 3,555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t>Nearly balanced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Contract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1824228"/>
            <a:ext cx="3044952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Month-to-month: 3,875</a:t>
            </a:r>
            <a:br>
              <a:rPr sz="1600" dirty="0"/>
            </a:br>
            <a:r>
              <a:rPr sz="1600" dirty="0"/>
              <a:t>One year: 1,473 | Two year: 1,695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t>Month-to-month is largest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Internet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844783"/>
            <a:ext cx="3044952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Fiber optic: 3,096 | DSL: 2,421</a:t>
            </a:r>
            <a:br>
              <a:rPr sz="1600" dirty="0"/>
            </a:br>
            <a:r>
              <a:rPr sz="1600" dirty="0"/>
              <a:t>No internet: 1,526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t>Fiber optic is most common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3794760"/>
            <a:ext cx="3657600" cy="1730968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74620" y="3825535"/>
            <a:ext cx="3364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rPr dirty="0"/>
              <a:t>Payment 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4620" y="4102790"/>
            <a:ext cx="3364992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Electronic check: 2,365</a:t>
            </a:r>
            <a:br>
              <a:rPr sz="1600" dirty="0"/>
            </a:br>
            <a:r>
              <a:rPr sz="1600" dirty="0"/>
              <a:t>Mailed check: 1,612 | Bank transfer: 1,544</a:t>
            </a:r>
            <a:br>
              <a:rPr sz="1600" dirty="0"/>
            </a:br>
            <a:r>
              <a:rPr sz="1600" dirty="0"/>
              <a:t>Credit card: 1,522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3761" y="5066253"/>
            <a:ext cx="336499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t>Electronic check is highest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794759"/>
            <a:ext cx="3337560" cy="1730969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84264" y="391363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Numerical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4264" y="4127728"/>
            <a:ext cx="3044952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Tenure: 0–72 months</a:t>
            </a:r>
            <a:br>
              <a:rPr sz="1600" dirty="0"/>
            </a:br>
            <a:r>
              <a:rPr sz="1600" dirty="0"/>
              <a:t>Monthly</a:t>
            </a:r>
            <a:r>
              <a:rPr lang="en-IN" sz="1600" dirty="0"/>
              <a:t> </a:t>
            </a:r>
            <a:r>
              <a:rPr sz="1600" dirty="0"/>
              <a:t>charges: 18.25–118.75</a:t>
            </a:r>
            <a:br>
              <a:rPr sz="1600" dirty="0"/>
            </a:br>
            <a:r>
              <a:rPr sz="1600" dirty="0"/>
              <a:t>Total</a:t>
            </a:r>
            <a:r>
              <a:rPr lang="en-IN" sz="1600" dirty="0"/>
              <a:t> </a:t>
            </a:r>
            <a:r>
              <a:rPr sz="1600" dirty="0"/>
              <a:t>charges: 0–8,684.80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5177039"/>
            <a:ext cx="3044952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rPr dirty="0"/>
              <a:t>Total</a:t>
            </a:r>
            <a:r>
              <a:rPr lang="en-IN" dirty="0"/>
              <a:t> </a:t>
            </a:r>
            <a:r>
              <a:rPr dirty="0"/>
              <a:t>charges is strongly right-skewed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F6FA8"/>
                </a:solidFill>
                <a:latin typeface="Arial" panose="020B0604020202020204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C41E23"/>
                </a:solidFill>
                <a:latin typeface="Arial" panose="020B0604020202020204"/>
              </a:defRPr>
            </a:pPr>
            <a:r>
              <a:t>Bivariate Analysis – Churn Patterns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Contract vs Churn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768509"/>
            <a:ext cx="3044952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Month-to-month: 42.7% churn</a:t>
            </a:r>
            <a:br>
              <a:rPr sz="1600" dirty="0"/>
            </a:br>
            <a:r>
              <a:rPr sz="1600" dirty="0"/>
              <a:t>One year: 11.3% | Two year: 2.8%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602842"/>
            <a:ext cx="30449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t>Longer contracts show lower churn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500170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Internet Service vs Churn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737914"/>
            <a:ext cx="3044952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Fiber optic: 41.9% | DSL: 19.0%</a:t>
            </a:r>
            <a:br>
              <a:rPr sz="1600" dirty="0"/>
            </a:br>
            <a:r>
              <a:rPr sz="1600" dirty="0"/>
              <a:t>No internet: 7.4%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519172"/>
            <a:ext cx="30449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t>Fiber optic shows highest churn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8368" y="1477081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Payment Method vs Churn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8368" y="1730537"/>
            <a:ext cx="3044952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Electronic check: 45.3%</a:t>
            </a:r>
            <a:br>
              <a:rPr sz="1600" dirty="0"/>
            </a:br>
            <a:r>
              <a:rPr sz="1600" dirty="0"/>
              <a:t>Mailed check: 19.1% | Bank transfer: 16.7%</a:t>
            </a:r>
            <a:br>
              <a:rPr sz="1600" dirty="0"/>
            </a:br>
            <a:r>
              <a:rPr sz="1600" dirty="0"/>
              <a:t>Credit card: 15.2%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8368" y="2615184"/>
            <a:ext cx="304495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t>Electronic check is highest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3657600"/>
            <a:ext cx="3657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06624" y="3776472"/>
            <a:ext cx="33649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Tenure vs Churn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6624" y="4101305"/>
            <a:ext cx="3364992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Churned customers generally have shorter tenure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6624" y="4645152"/>
            <a:ext cx="3364992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t>Newer customers show higher churn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65760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84264" y="3697686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Why these plots?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4264" y="3931595"/>
            <a:ext cx="3044952" cy="13849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Count plots compare category sizes and churn rates; box plots compare numerical distributions across churn groups</a:t>
            </a:r>
            <a:r>
              <a:rPr dirty="0"/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4645152"/>
            <a:ext cx="3044952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F6FA8"/>
                </a:solidFill>
                <a:latin typeface="Arial" panose="020B0604020202020204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C41E23"/>
                </a:solidFill>
                <a:latin typeface="Arial" panose="020B0604020202020204"/>
              </a:defRPr>
            </a:pPr>
            <a:r>
              <a:t>Multivariate Analysis – Key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84135"/>
            <a:ext cx="304495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tenure ↔ </a:t>
            </a:r>
            <a:r>
              <a:rPr sz="1600" dirty="0" err="1"/>
              <a:t>totalcharges</a:t>
            </a:r>
            <a:r>
              <a:rPr sz="1600" dirty="0"/>
              <a:t> = 0.83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t>Strongest positive relationship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Charges + Churn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879775"/>
            <a:ext cx="3044952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Churned customers generally show higher monthly charges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446150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t>Possible association, not causation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36192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Tenure + Churn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861025"/>
            <a:ext cx="3044952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Shorter-tenure customers are more visible among churners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404872"/>
            <a:ext cx="304495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t>Longer tenure is associated with lower churn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3794760"/>
            <a:ext cx="3749039" cy="1613916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89504" y="3913632"/>
            <a:ext cx="34564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Contract + Tenure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9504" y="4238465"/>
            <a:ext cx="3456432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Month-to-month customers have shorter tenure and higher churn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9504" y="4782312"/>
            <a:ext cx="34564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t>Long-term contracts show lower churn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3794760"/>
            <a:ext cx="2834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58584" y="3858214"/>
            <a:ext cx="25420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t>Overall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4115354"/>
            <a:ext cx="2542032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Multiple variables together reveal stronger churn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4873752"/>
            <a:ext cx="254203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rPr dirty="0"/>
              <a:t>Heatmap, box plot and scatter plot support multivariate interpretation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F6FA8"/>
                </a:solidFill>
                <a:latin typeface="Arial" panose="020B0604020202020204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C41E23"/>
                </a:solidFill>
                <a:latin typeface="Arial" panose="020B0604020202020204"/>
              </a:defRPr>
            </a:pPr>
            <a:r>
              <a:t>Pivot Tables &amp; Summary Statistics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" y="1417320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rPr dirty="0"/>
              <a:t>Contract vs Churn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753195"/>
            <a:ext cx="3044952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Month-to-month → 1,655 churn</a:t>
            </a:r>
            <a:br>
              <a:rPr sz="1600" dirty="0"/>
            </a:br>
            <a:r>
              <a:rPr sz="1600" dirty="0"/>
              <a:t>One year → 166 | Two year → 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601468"/>
            <a:ext cx="3044952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rPr dirty="0"/>
              <a:t>Confirms higher churn in month-to-month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438604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rPr dirty="0"/>
              <a:t>Internet Service vs Churn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1737913"/>
            <a:ext cx="3044952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DSL → 459 churn | Fiber optic → 1,297</a:t>
            </a:r>
            <a:br>
              <a:rPr sz="1600" dirty="0"/>
            </a:br>
            <a:r>
              <a:rPr sz="1600" dirty="0"/>
              <a:t>No internet → 113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3524" y="2619756"/>
            <a:ext cx="3044952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rPr dirty="0"/>
              <a:t>Fiber optic has highest churn count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02168" y="1457235"/>
            <a:ext cx="304495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C41E23"/>
                </a:solidFill>
                <a:latin typeface="Arial" panose="020B0604020202020204"/>
              </a:defRPr>
            </a:pPr>
            <a:r>
              <a:rPr dirty="0"/>
              <a:t>Payment Method vs Churn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724530"/>
            <a:ext cx="3044952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Bank transfer → 258 | Credit card → 232</a:t>
            </a:r>
            <a:br>
              <a:rPr sz="1600" dirty="0"/>
            </a:br>
            <a:r>
              <a:rPr sz="1600" dirty="0"/>
              <a:t>Electronic check → 1,071 | Mailed check → 308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78825"/>
            <a:ext cx="3044952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46A70"/>
                </a:solidFill>
                <a:latin typeface="Arial" panose="020B0604020202020204"/>
              </a:defRPr>
            </a:pPr>
            <a:r>
              <a:rPr dirty="0"/>
              <a:t>Electronic check stands 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3657600"/>
            <a:ext cx="8092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31720" y="3886200"/>
            <a:ext cx="37490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C41E23"/>
                </a:solidFill>
                <a:latin typeface="Arial" panose="020B0604020202020204"/>
              </a:defRPr>
            </a:pPr>
            <a:r>
              <a:t>Target 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858654"/>
            <a:ext cx="37947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/>
              <a:t>No: 5,174 | Yes: 1,869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4370832"/>
            <a:ext cx="3794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646A70"/>
                </a:solidFill>
                <a:latin typeface="Arial" panose="020B0604020202020204"/>
              </a:defRPr>
            </a:pPr>
            <a:r>
              <a:t>73.46% vs 26.54%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28232"/>
            <a:ext cx="10332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0">
                <a:solidFill>
                  <a:srgbClr val="646A70"/>
                </a:solidFill>
                <a:latin typeface="Arial" panose="020B0604020202020204"/>
              </a:defRPr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F6FA8"/>
                </a:solidFill>
                <a:latin typeface="Arial" panose="020B0604020202020204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C41E23"/>
                </a:solidFill>
                <a:latin typeface="Arial" panose="020B0604020202020204"/>
              </a:defRPr>
            </a:pPr>
            <a:r>
              <a:t>Key Business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70" y="1341120"/>
            <a:ext cx="10149840" cy="347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1400">
                <a:solidFill>
                  <a:srgbClr val="262B30"/>
                </a:solidFill>
                <a:latin typeface="Arial" panose="020B0604020202020204"/>
              </a:defRPr>
            </a:pPr>
            <a:r>
              <a:rPr dirty="0"/>
              <a:t>• Month-to-month customers have the highest churn rate; two-year customers have the lowest.</a:t>
            </a:r>
            <a:br>
              <a:rPr dirty="0"/>
            </a:br>
            <a:r>
              <a:rPr dirty="0"/>
              <a:t>• Fiber optic customers show considerably higher churn than DSL and customers without internet service.</a:t>
            </a:r>
            <a:br>
              <a:rPr dirty="0"/>
            </a:br>
            <a:r>
              <a:rPr dirty="0"/>
              <a:t>• Customers with shorter tenure are more likely to churn.</a:t>
            </a:r>
            <a:br>
              <a:rPr dirty="0"/>
            </a:br>
            <a:r>
              <a:rPr dirty="0"/>
              <a:t>• Higher monthly charges are generally associated with higher churn.</a:t>
            </a:r>
            <a:br>
              <a:rPr dirty="0"/>
            </a:br>
            <a:r>
              <a:rPr dirty="0"/>
              <a:t>• Electronic check users have the highest churn rate among payment methods.</a:t>
            </a:r>
            <a:br>
              <a:rPr dirty="0"/>
            </a:br>
            <a:r>
              <a:rPr dirty="0"/>
              <a:t>• Customers without online security, online backup, device protection and technical support generally show higher churn.</a:t>
            </a:r>
            <a:br>
              <a:rPr dirty="0"/>
            </a:br>
            <a:r>
              <a:rPr dirty="0"/>
              <a:t>• Senior citizens and customers without partners or dependents show higher churn rates.</a:t>
            </a:r>
            <a:br>
              <a:rPr dirty="0"/>
            </a:br>
            <a:r>
              <a:rPr dirty="0"/>
              <a:t>• Gender and phone service show relatively small differences in churn.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F6FA8"/>
                </a:solidFill>
                <a:latin typeface="Arial" panose="020B0604020202020204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C41E23"/>
                </a:solidFill>
                <a:latin typeface="Arial" panose="020B0604020202020204"/>
              </a:defRPr>
            </a:pPr>
            <a:r>
              <a:t>Conclusion – Key Findings Overall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4568" y="1540764"/>
            <a:ext cx="10058400" cy="346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1600">
                <a:solidFill>
                  <a:srgbClr val="262B30"/>
                </a:solidFill>
                <a:latin typeface="Arial" panose="020B0604020202020204"/>
              </a:defRPr>
            </a:pPr>
            <a:r>
              <a:rPr dirty="0"/>
              <a:t>• The dataset contains 7,043 customers and 21 columns.</a:t>
            </a:r>
            <a:br>
              <a:rPr dirty="0"/>
            </a:br>
            <a:r>
              <a:rPr dirty="0"/>
              <a:t>• Data cleaning resolved 11 blank total</a:t>
            </a:r>
            <a:r>
              <a:rPr lang="en-IN" dirty="0"/>
              <a:t> </a:t>
            </a:r>
            <a:r>
              <a:rPr dirty="0"/>
              <a:t>charges values; no duplicates or IQR outliers were identified.</a:t>
            </a:r>
            <a:br>
              <a:rPr dirty="0"/>
            </a:br>
            <a:r>
              <a:rPr dirty="0"/>
              <a:t>• The churn target is moderately imbalanced: 73.46% No and 26.54% Yes.</a:t>
            </a:r>
            <a:br>
              <a:rPr dirty="0"/>
            </a:br>
            <a:r>
              <a:rPr dirty="0"/>
              <a:t>• Contract type, tenure, internet service, monthly charges and payment method show important churn patterns.</a:t>
            </a:r>
            <a:br>
              <a:rPr dirty="0"/>
            </a:br>
            <a:r>
              <a:rPr dirty="0"/>
              <a:t>• Tenure and total</a:t>
            </a:r>
            <a:r>
              <a:rPr lang="en-IN" dirty="0"/>
              <a:t> </a:t>
            </a:r>
            <a:r>
              <a:rPr dirty="0"/>
              <a:t>charges have a strong positive correlation of 0.83.</a:t>
            </a:r>
            <a:br>
              <a:rPr dirty="0"/>
            </a:br>
            <a:r>
              <a:rPr dirty="0"/>
              <a:t>• The analysis can help identify higher-risk customer segments and support targeted retention strategies.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349240"/>
            <a:ext cx="10058400" cy="594360"/>
          </a:xfrm>
          <a:prstGeom prst="roundRect">
            <a:avLst/>
          </a:prstGeom>
          <a:solidFill>
            <a:srgbClr val="F5F7F9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468112"/>
            <a:ext cx="9601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50" b="1">
                <a:solidFill>
                  <a:srgbClr val="C41E23"/>
                </a:solidFill>
                <a:latin typeface="Arial" panose="020B0604020202020204"/>
              </a:defRPr>
            </a:pPr>
            <a:r>
              <a:t>Project learning: data cleaning, EDA, visualization, pivot tables and business interpretation.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28232"/>
            <a:ext cx="10332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0">
                <a:solidFill>
                  <a:srgbClr val="646A70"/>
                </a:solidFill>
                <a:latin typeface="Arial" panose="020B0604020202020204"/>
              </a:defRPr>
            </a:pPr>
            <a:r>
              <a:t>Telco Customer Churn | EDA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5800" y="320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1F6FA8"/>
                </a:solidFill>
                <a:latin typeface="Arial" panose="020B0604020202020204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C41E23"/>
                </a:solidFill>
                <a:latin typeface="Arial" panose="020B0604020202020204"/>
              </a:defRPr>
            </a:pPr>
            <a:r>
              <a:t>Experience / Challenges Working on the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10561320" cy="32004"/>
          </a:xfrm>
          <a:prstGeom prst="rect">
            <a:avLst/>
          </a:prstGeom>
          <a:solidFill>
            <a:srgbClr val="1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65123" y="2228909"/>
            <a:ext cx="9052560" cy="20621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500" b="1">
                <a:solidFill>
                  <a:srgbClr val="1F6FA8"/>
                </a:solidFill>
                <a:latin typeface="Arial" panose="020B0604020202020204"/>
              </a:defRPr>
            </a:pP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• </a:t>
            </a:r>
            <a:r>
              <a:rPr sz="1600" dirty="0">
                <a:solidFill>
                  <a:schemeClr val="tx2">
                    <a:lumMod val="25000"/>
                  </a:schemeClr>
                </a:solidFill>
                <a:latin typeface="+mn-lt"/>
              </a:rPr>
              <a:t>Cleaned and standardized a real-world customer churn dataset.</a:t>
            </a:r>
            <a:br>
              <a:rPr sz="1600" dirty="0">
                <a:solidFill>
                  <a:schemeClr val="tx2">
                    <a:lumMod val="25000"/>
                  </a:schemeClr>
                </a:solidFill>
                <a:latin typeface="+mn-lt"/>
              </a:rPr>
            </a:br>
            <a:r>
              <a:rPr sz="1600" dirty="0">
                <a:solidFill>
                  <a:schemeClr val="tx2">
                    <a:lumMod val="25000"/>
                  </a:schemeClr>
                </a:solidFill>
                <a:latin typeface="+mn-lt"/>
              </a:rPr>
              <a:t>• Converted total</a:t>
            </a:r>
            <a:r>
              <a:rPr lang="en-IN" sz="1600" dirty="0">
                <a:solidFill>
                  <a:schemeClr val="tx2">
                    <a:lumMod val="25000"/>
                  </a:schemeClr>
                </a:solidFill>
                <a:latin typeface="+mn-lt"/>
              </a:rPr>
              <a:t> </a:t>
            </a:r>
            <a:r>
              <a:rPr sz="1600" dirty="0">
                <a:solidFill>
                  <a:schemeClr val="tx2">
                    <a:lumMod val="25000"/>
                  </a:schemeClr>
                </a:solidFill>
                <a:latin typeface="+mn-lt"/>
              </a:rPr>
              <a:t>charges from text to numeric format and handled blank records logically.</a:t>
            </a:r>
            <a:br>
              <a:rPr sz="1600" dirty="0">
                <a:solidFill>
                  <a:schemeClr val="tx2">
                    <a:lumMod val="25000"/>
                  </a:schemeClr>
                </a:solidFill>
                <a:latin typeface="+mn-lt"/>
              </a:rPr>
            </a:br>
            <a:r>
              <a:rPr sz="1600" dirty="0">
                <a:solidFill>
                  <a:schemeClr val="tx2">
                    <a:lumMod val="25000"/>
                  </a:schemeClr>
                </a:solidFill>
                <a:latin typeface="+mn-lt"/>
              </a:rPr>
              <a:t>• Used Pandas for data preparation and Seaborn/Matplotlib for visual EDA.</a:t>
            </a:r>
            <a:br>
              <a:rPr sz="1600" dirty="0">
                <a:solidFill>
                  <a:schemeClr val="tx2">
                    <a:lumMod val="25000"/>
                  </a:schemeClr>
                </a:solidFill>
                <a:latin typeface="+mn-lt"/>
              </a:rPr>
            </a:br>
            <a:r>
              <a:rPr sz="1600" dirty="0">
                <a:solidFill>
                  <a:schemeClr val="tx2">
                    <a:lumMod val="25000"/>
                  </a:schemeClr>
                </a:solidFill>
                <a:latin typeface="+mn-lt"/>
              </a:rPr>
              <a:t>• Applied IQR-based outlier detection and checked target-class imbalance.</a:t>
            </a:r>
            <a:br>
              <a:rPr sz="1600" dirty="0">
                <a:solidFill>
                  <a:schemeClr val="tx2">
                    <a:lumMod val="25000"/>
                  </a:schemeClr>
                </a:solidFill>
                <a:latin typeface="+mn-lt"/>
              </a:rPr>
            </a:br>
            <a:r>
              <a:rPr sz="1600" dirty="0">
                <a:solidFill>
                  <a:schemeClr val="tx2">
                    <a:lumMod val="25000"/>
                  </a:schemeClr>
                </a:solidFill>
                <a:latin typeface="+mn-lt"/>
              </a:rPr>
              <a:t>• Used univariate, bivariate and multivariate analysis to identify meaningful patterns.</a:t>
            </a:r>
            <a:br>
              <a:rPr sz="1600" dirty="0">
                <a:solidFill>
                  <a:schemeClr val="tx2">
                    <a:lumMod val="25000"/>
                  </a:schemeClr>
                </a:solidFill>
                <a:latin typeface="+mn-lt"/>
              </a:rPr>
            </a:br>
            <a:r>
              <a:rPr sz="1600" dirty="0">
                <a:solidFill>
                  <a:schemeClr val="tx2">
                    <a:lumMod val="25000"/>
                  </a:schemeClr>
                </a:solidFill>
                <a:latin typeface="+mn-lt"/>
              </a:rPr>
              <a:t>• Created pivot tables to validate and summarize key findings.</a:t>
            </a:r>
            <a:br>
              <a:rPr sz="1600" dirty="0">
                <a:solidFill>
                  <a:schemeClr val="tx2">
                    <a:lumMod val="25000"/>
                  </a:schemeClr>
                </a:solidFill>
                <a:latin typeface="+mn-lt"/>
              </a:rPr>
            </a:br>
            <a:r>
              <a:rPr sz="1600" dirty="0">
                <a:solidFill>
                  <a:schemeClr val="tx2">
                    <a:lumMod val="25000"/>
                  </a:schemeClr>
                </a:solidFill>
                <a:latin typeface="+mn-lt"/>
              </a:rPr>
              <a:t>• Key learning: clear business questions and careful interpretation make EDA more useful for decision-making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8138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46A70"/>
                </a:solidFill>
                <a:latin typeface="Arial" panose="020B0604020202020204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22323" y="5166360"/>
            <a:ext cx="8138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C41E23"/>
                </a:solidFill>
                <a:latin typeface="Arial" panose="020B0604020202020204"/>
              </a:defRPr>
            </a:pPr>
            <a:r>
              <a:rPr dirty="0"/>
              <a:t>Project focus: Python • Pandas • NumPy • Matplotlib • Seaborn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1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4358640" y="291071"/>
            <a:ext cx="34747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 panose="020B0604020202020204"/>
              </a:defRPr>
            </a:pPr>
            <a:r>
              <a:rPr sz="1600" dirty="0">
                <a:solidFill>
                  <a:schemeClr val="tx1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1119</Words>
  <Application>Microsoft Office PowerPoint</Application>
  <PresentationFormat>Widescreen</PresentationFormat>
  <Paragraphs>141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Nageshwari Auti</cp:lastModifiedBy>
  <cp:revision>4</cp:revision>
  <dcterms:created xsi:type="dcterms:W3CDTF">2026-08-26T13:12:12Z</dcterms:created>
  <dcterms:modified xsi:type="dcterms:W3CDTF">2026-09-17T15:59:06Z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45A09919E5C4408B8E38206139C7A7BD_12</vt:lpwstr>
  </property>
</Properties>
</file>